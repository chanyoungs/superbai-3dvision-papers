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/mnt/data/cameltrack_5_slide_summary.md
- Paper PDF: /mnt/data/CAMELTrack - Context-Aware Multi-cue ExpLoitation for Online Multi-Object Tracking.pdf
- Figure assets in this deck were extracted or cropped from the cited CAMELTrack paper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/mnt/data/cameltrack_5_slide_summary.md
- Paper PDF: /mnt/data/CAMELTrack - Context-Aware Multi-cue ExpLoitation for Online Multi-Object Tracking.pdf
- Figure assets in this deck were extracted or cropped from the cited CAMELTrack paper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/mnt/data/cameltrack_5_slide_summary.md
- Paper PDF: /mnt/data/CAMELTrack - Context-Aware Multi-cue ExpLoitation for Online Multi-Object Tracking.pdf
- Figure assets in this deck were extracted or cropped from the cited CAMELTrack paper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/mnt/data/cameltrack_5_slide_summary.md
- Paper PDF: /mnt/data/CAMELTrack - Context-Aware Multi-cue ExpLoitation for Online Multi-Object Tracking.pdf
- Figure assets in this deck were extracted or cropped from the cited CAMELTrack paper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/mnt/data/cameltrack_5_slide_summary.md
- Paper PDF: /mnt/data/CAMELTrack - Context-Aware Multi-cue ExpLoitation for Online Multi-Object Tracking.pdf
- Figure assets in this deck were extracted or cropped from the cited CAMELTrack paper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EE3F3"/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paper: CAMELTrack: Context-Aware Multi-cue ExpLoitation for Online Multi-Object Tracking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EE3F3">
              <a:alpha val="65000"/>
            </a:srgbClr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EE3F3">
              <a:alpha val="50000"/>
            </a:srgbClr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MOT still relies too much on heuristics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8368" y="1783080"/>
            <a:ext cx="45720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56232"/>
            <a:ext cx="109728" cy="841248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11096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hand-crafted rules still dominate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" y="2221992"/>
            <a:ext cx="73152" cy="731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13969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tracklet representation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2423160"/>
            <a:ext cx="73152" cy="731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340864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 fusion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" y="2624328"/>
            <a:ext cx="73152" cy="731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54203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matching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32120" y="1417320"/>
            <a:ext cx="5989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3E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0" descr="/mnt/data/improved_mot_pptx_v3/assets/camel_tea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291" y="1490472"/>
            <a:ext cx="1750979" cy="16459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641848" y="3264408"/>
            <a:ext cx="5769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Teaser figure from the paper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532120" y="3611880"/>
            <a:ext cx="2926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605272" y="3685032"/>
            <a:ext cx="109728" cy="786384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88152" y="373989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static rules break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788152" y="4032504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 quality changes with context</a:t>
            </a:r>
            <a:pPr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 breaks static rules</a:t>
            </a:r>
            <a:endParaRPr lang="en-US" sz="1090" dirty="0"/>
          </a:p>
        </p:txBody>
      </p:sp>
      <p:sp>
        <p:nvSpPr>
          <p:cNvPr id="30" name="Shape 27"/>
          <p:cNvSpPr/>
          <p:nvPr/>
        </p:nvSpPr>
        <p:spPr>
          <a:xfrm>
            <a:off x="8595360" y="3611880"/>
            <a:ext cx="2926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668512" y="3685032"/>
            <a:ext cx="109728" cy="786384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51392" y="373989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failure modes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851392" y="4032504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appearance-only matching can confuse similar targets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gaps make motion unreliable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58368" y="4892040"/>
            <a:ext cx="10863072" cy="548640"/>
          </a:xfrm>
          <a:prstGeom prst="roundRect">
            <a:avLst/>
          </a:prstGeom>
          <a:solidFill>
            <a:srgbClr val="F0E7F4"/>
          </a:solidFill>
          <a:ln w="12700">
            <a:solidFill>
              <a:srgbClr val="D7BEE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9808" y="4983480"/>
            <a:ext cx="109728" cy="36576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2688" y="501091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 idea:</a:t>
            </a:r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the modular tracking-by-detection pipeline, but learn the association strategy.</a:t>
            </a:r>
            <a:endParaRPr lang="en-US" sz="11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EE3F3"/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paper: CAMELTrack: Context-Aware Multi-cue ExpLoitation for Online Multi-Object Tracking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EE3F3">
              <a:alpha val="65000"/>
            </a:srgbClr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EE3F3">
              <a:alpha val="50000"/>
            </a:srgbClr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 = learned multi-cue association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8368" y="178308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56232"/>
            <a:ext cx="109728" cy="905256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11096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ability 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2203704"/>
            <a:ext cx="1911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cue history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3035808" y="178308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0" y="1856232"/>
            <a:ext cx="109728" cy="905256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911096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ability 2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2203704"/>
            <a:ext cx="1911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multiple cues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658368" y="2971800"/>
            <a:ext cx="4617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044952"/>
            <a:ext cx="109728" cy="1042416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099816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ability 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3392424"/>
            <a:ext cx="4288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matched and unmatched pairs in embedding space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658368" y="4434840"/>
            <a:ext cx="4617720" cy="502920"/>
          </a:xfrm>
          <a:prstGeom prst="roundRect">
            <a:avLst/>
          </a:prstGeom>
          <a:solidFill>
            <a:srgbClr val="F0E7F4"/>
          </a:solidFill>
          <a:ln w="12700">
            <a:solidFill>
              <a:srgbClr val="D7BE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526280"/>
            <a:ext cx="109728" cy="32004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553712"/>
            <a:ext cx="4270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property:</a:t>
            </a:r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heuristic-free association while still using off-the-shelf models.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5623560" y="1417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44AD"/>
                </a:solidFill>
              </a:rPr>
              <a:t>Cue fusion concept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23560" y="1847088"/>
            <a:ext cx="685800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0136" y="1892808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bbox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400800" y="1847088"/>
            <a:ext cx="932688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189280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623560" y="2194560"/>
            <a:ext cx="685800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0136" y="2240280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ReID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6400800" y="2194560"/>
            <a:ext cx="685800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7376" y="2240280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7178040" y="2194560"/>
            <a:ext cx="822960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14616" y="22402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8065008" y="1901952"/>
            <a:ext cx="384048" cy="201168"/>
          </a:xfrm>
          <a:prstGeom prst="chevron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03920" y="1737360"/>
            <a:ext cx="1371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577072" y="1810512"/>
            <a:ext cx="109728" cy="694944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59952" y="18653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Encoder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759952" y="215798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cue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9966960" y="1901952"/>
            <a:ext cx="384048" cy="201168"/>
          </a:xfrm>
          <a:prstGeom prst="chevron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405872" y="1737360"/>
            <a:ext cx="960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479024" y="1810512"/>
            <a:ext cx="109728" cy="694944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61904" y="1865376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GAFFE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661904" y="2157984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 rot="5400000">
            <a:off x="8092440" y="2999232"/>
            <a:ext cx="2852928" cy="310896"/>
          </a:xfrm>
          <a:prstGeom prst="chevron">
            <a:avLst/>
          </a:prstGeom>
          <a:solidFill>
            <a:srgbClr val="A569BD"/>
          </a:solidFill>
          <a:ln w="12700">
            <a:solidFill>
              <a:srgbClr val="A569BD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21040" y="3703320"/>
            <a:ext cx="2834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94192" y="3776472"/>
            <a:ext cx="109728" cy="813816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77072" y="38313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577072" y="4123944"/>
            <a:ext cx="25054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embeddings -&gt; bipartite matching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641080" y="4864608"/>
            <a:ext cx="877824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77656" y="491032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tracklets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610344" y="4864608"/>
            <a:ext cx="932688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46920" y="491032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EE3F3"/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paper: CAMELTrack: Context-Aware Multi-cue ExpLoitation for Online Multi-Object Tracking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EE3F3">
              <a:alpha val="65000"/>
            </a:srgbClr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EE3F3">
              <a:alpha val="50000"/>
            </a:srgbClr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Encoder + GAFFE + Hungarian matching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31520" y="1892808"/>
            <a:ext cx="73152" cy="731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1810512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detections + cues -&gt; </a:t>
            </a:r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Encoder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cue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276856"/>
            <a:ext cx="73152" cy="731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19456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cue-specific tracklet tokens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660904"/>
            <a:ext cx="73152" cy="731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57860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GAFFE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produces unified object embeddings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044952"/>
            <a:ext cx="73152" cy="731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962656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detections and tracklets with </a:t>
            </a:r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Hungarian matching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Cues supported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31520" y="3913632"/>
            <a:ext cx="1152144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9593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boxes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1975104" y="3913632"/>
            <a:ext cx="932688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39593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999232" y="3913632"/>
            <a:ext cx="1097280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5808" y="3959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ReID features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31520" y="4261104"/>
            <a:ext cx="1152144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430682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keypoints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1975104" y="4261104"/>
            <a:ext cx="1097280" cy="256032"/>
          </a:xfrm>
          <a:prstGeom prst="roundRect">
            <a:avLst/>
          </a:prstGeom>
          <a:solidFill>
            <a:srgbClr val="F1E9F5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430682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metadata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58368" y="4663440"/>
            <a:ext cx="4617720" cy="658368"/>
          </a:xfrm>
          <a:prstGeom prst="roundRect">
            <a:avLst/>
          </a:prstGeom>
          <a:solidFill>
            <a:srgbClr val="F0E7F4"/>
          </a:solidFill>
          <a:ln w="12700">
            <a:solidFill>
              <a:srgbClr val="D7BE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" y="4754880"/>
            <a:ext cx="109728" cy="475488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4782312"/>
            <a:ext cx="4270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 keeps the </a:t>
            </a:r>
            <a:pPr indent="0" marL="0">
              <a:buNone/>
            </a:pPr>
            <a:r>
              <a:rPr lang="en-US" sz="109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tracking-by-detection modularity</a:t>
            </a:r>
            <a:pPr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classic pipelines while replacing brittle manual fusion with a learned association head.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5577840" y="1463040"/>
            <a:ext cx="58521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3E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0" descr="/mnt/data/improved_mot_pptx_v3/assets/camel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2170684"/>
            <a:ext cx="5705856" cy="280009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687568" y="5733288"/>
            <a:ext cx="5632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 of CAMELTrack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EE3F3"/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Strategy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paper: CAMELTrack: Context-Aware Multi-cue ExpLoitation for Online Multi-Object Tracking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EE3F3">
              <a:alpha val="65000"/>
            </a:srgbClr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EE3F3">
              <a:alpha val="50000"/>
            </a:srgbClr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Association-Centric Training (ACT)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1069848" cy="530352"/>
          </a:xfrm>
          <a:prstGeom prst="roundRect">
            <a:avLst/>
          </a:prstGeom>
          <a:solidFill>
            <a:srgbClr val="F0E7F4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98424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precomputed cues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1764792" y="2020824"/>
            <a:ext cx="54864" cy="237744"/>
          </a:xfrm>
          <a:prstGeom prst="chevron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56232" y="1874520"/>
            <a:ext cx="1069848" cy="530352"/>
          </a:xfrm>
          <a:prstGeom prst="roundRect">
            <a:avLst/>
          </a:prstGeom>
          <a:solidFill>
            <a:srgbClr val="F0E7F4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9384" y="198424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augmentations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962656" y="2020824"/>
            <a:ext cx="54864" cy="237744"/>
          </a:xfrm>
          <a:prstGeom prst="chevron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54096" y="1874520"/>
            <a:ext cx="1069848" cy="530352"/>
          </a:xfrm>
          <a:prstGeom prst="roundRect">
            <a:avLst/>
          </a:prstGeom>
          <a:solidFill>
            <a:srgbClr val="F0E7F4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198424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temporal windows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160520" y="2020824"/>
            <a:ext cx="54864" cy="237744"/>
          </a:xfrm>
          <a:prstGeom prst="chevron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1960" y="1874520"/>
            <a:ext cx="1069848" cy="530352"/>
          </a:xfrm>
          <a:prstGeom prst="roundRect">
            <a:avLst/>
          </a:prstGeom>
          <a:solidFill>
            <a:srgbClr val="F0E7F4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98424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loss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58368" y="2697480"/>
            <a:ext cx="2194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2770632"/>
            <a:ext cx="109728" cy="950976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82549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3118104"/>
            <a:ext cx="1865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training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temporal windows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hard-example generation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3017520" y="2697480"/>
            <a:ext cx="230428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90672" y="2770632"/>
            <a:ext cx="109728" cy="950976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282549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simulation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273552" y="3118104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swaps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dropout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 perturbation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58368" y="4041648"/>
            <a:ext cx="4663440" cy="658368"/>
          </a:xfrm>
          <a:prstGeom prst="roundRect">
            <a:avLst/>
          </a:prstGeom>
          <a:solidFill>
            <a:srgbClr val="F0E7F4"/>
          </a:solidFill>
          <a:ln w="12700">
            <a:solidFill>
              <a:srgbClr val="D7BE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" y="4133088"/>
            <a:ext cx="109728" cy="475488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4160520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training the whole image pipeline end-to-end, ACT directly supervises the </a:t>
            </a:r>
            <a:pPr indent="0" marL="0">
              <a:buNone/>
            </a:pPr>
            <a:r>
              <a:rPr lang="en-US" sz="109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module</a:t>
            </a:r>
            <a:pPr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stored cues and hard cases.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5623560" y="1554480"/>
            <a:ext cx="57150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96712" y="1627632"/>
            <a:ext cx="109728" cy="2916936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9592" y="1682496"/>
            <a:ext cx="5367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matching under hard scenarios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870448" y="2148840"/>
            <a:ext cx="73152" cy="731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2066544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association directly on cue sequences instead of raw video</a:t>
            </a:r>
            <a:endParaRPr lang="en-US" sz="1160" dirty="0"/>
          </a:p>
        </p:txBody>
      </p:sp>
      <p:sp>
        <p:nvSpPr>
          <p:cNvPr id="41" name="Shape 39"/>
          <p:cNvSpPr/>
          <p:nvPr/>
        </p:nvSpPr>
        <p:spPr>
          <a:xfrm>
            <a:off x="5870448" y="2569464"/>
            <a:ext cx="73152" cy="731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2487168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 the model with swaps, dropout, and noisy cues</a:t>
            </a:r>
            <a:endParaRPr lang="en-US" sz="1160" dirty="0"/>
          </a:p>
        </p:txBody>
      </p:sp>
      <p:sp>
        <p:nvSpPr>
          <p:cNvPr id="43" name="Shape 41"/>
          <p:cNvSpPr/>
          <p:nvPr/>
        </p:nvSpPr>
        <p:spPr>
          <a:xfrm>
            <a:off x="5870448" y="2990088"/>
            <a:ext cx="73152" cy="731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290779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embeddings that stay discriminative through occlusion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5806440" y="397764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3E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46" name="Image 0" descr="/mnt/data/improved_mot_pptx_v3/assets/camel_results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481" y="4050792"/>
            <a:ext cx="2846598" cy="86868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5916168" y="5047488"/>
            <a:ext cx="5221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timeline visual from the paper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EE3F3"/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Insights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paper: CAMELTrack: Context-Aware Multi-cue ExpLoitation for Online Multi-Object Tracking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EE3F3">
              <a:alpha val="65000"/>
            </a:srgbClr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EE3F3">
              <a:alpha val="50000"/>
            </a:srgbClr>
          </a:solidFill>
          <a:ln w="12700">
            <a:solidFill>
              <a:srgbClr val="EEE3F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 improves association without abandoning modular MOT design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8368" y="1783080"/>
            <a:ext cx="4663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56232"/>
            <a:ext cx="109728" cy="1956816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11096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benchmark numbers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2203704"/>
            <a:ext cx="155448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DanceTrack HOTA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2468880" y="2295144"/>
            <a:ext cx="1984248" cy="164592"/>
          </a:xfrm>
          <a:prstGeom prst="round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295144"/>
            <a:ext cx="1375084" cy="164592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9B59B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212848"/>
            <a:ext cx="45720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69.3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68680" y="2558034"/>
            <a:ext cx="155448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SportsMOT HOTA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2468880" y="2649474"/>
            <a:ext cx="1984248" cy="164592"/>
          </a:xfrm>
          <a:prstGeom prst="round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2649474"/>
            <a:ext cx="1595335" cy="164592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9B59B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2567178"/>
            <a:ext cx="45720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80.4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68680" y="2912364"/>
            <a:ext cx="155448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MOT17 IDF1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468880" y="3003804"/>
            <a:ext cx="1984248" cy="164592"/>
          </a:xfrm>
          <a:prstGeom prst="round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003804"/>
            <a:ext cx="1517950" cy="164592"/>
          </a:xfrm>
          <a:prstGeom prst="roundRect">
            <a:avLst/>
          </a:prstGeom>
          <a:solidFill>
            <a:srgbClr val="B57EDC"/>
          </a:solidFill>
          <a:ln w="12700">
            <a:solidFill>
              <a:srgbClr val="B57ED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2921508"/>
            <a:ext cx="45720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76.5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868680" y="3266694"/>
            <a:ext cx="155448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SportsMOT IDF1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2468880" y="3358134"/>
            <a:ext cx="1984248" cy="164592"/>
          </a:xfrm>
          <a:prstGeom prst="round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3358134"/>
            <a:ext cx="1682642" cy="164592"/>
          </a:xfrm>
          <a:prstGeom prst="roundRect">
            <a:avLst/>
          </a:prstGeom>
          <a:solidFill>
            <a:srgbClr val="B57EDC"/>
          </a:solidFill>
          <a:ln w="12700">
            <a:solidFill>
              <a:srgbClr val="B57ED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3275838"/>
            <a:ext cx="457200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84.8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58368" y="4160520"/>
            <a:ext cx="4663440" cy="603504"/>
          </a:xfrm>
          <a:prstGeom prst="roundRect">
            <a:avLst/>
          </a:prstGeom>
          <a:solidFill>
            <a:srgbClr val="F0E7F4"/>
          </a:solidFill>
          <a:ln w="12700">
            <a:solidFill>
              <a:srgbClr val="D7BE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" y="4251960"/>
            <a:ext cx="109728" cy="420624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427939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insight:</a:t>
            </a:r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association is the bottleneck. Learned cue fusion beats fixed heuristic fusion.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5532120" y="1600200"/>
            <a:ext cx="5943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3E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0" descr="/mnt/data/improved_mot_pptx_v3/assets/camel_tracking_strip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881664"/>
            <a:ext cx="5797296" cy="543497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641848" y="2761488"/>
            <a:ext cx="5724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tracking strip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532120" y="3063240"/>
            <a:ext cx="5943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3E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40" name="Image 1" descr="/mnt/data/improved_mot_pptx_v3/assets/camel_results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979" y="3136392"/>
            <a:ext cx="3445881" cy="105156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641848" y="4315968"/>
            <a:ext cx="5724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timeline analysis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5532120" y="4617720"/>
            <a:ext cx="5943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7E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5605272" y="4690872"/>
            <a:ext cx="109728" cy="813816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788152" y="4745736"/>
            <a:ext cx="5596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</a:t>
            </a:r>
            <a:endParaRPr lang="en-US" sz="1250" dirty="0"/>
          </a:p>
        </p:txBody>
      </p:sp>
      <p:sp>
        <p:nvSpPr>
          <p:cNvPr id="45" name="Text 41"/>
          <p:cNvSpPr/>
          <p:nvPr/>
        </p:nvSpPr>
        <p:spPr>
          <a:xfrm>
            <a:off x="5788152" y="5038344"/>
            <a:ext cx="5614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cue fusion outperforms fixed heuristic fusion</a:t>
            </a:r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 stays lightweight by reusing off-the-shelf detectors and ReID models</a:t>
            </a:r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 bridges simple SORT-style trackers and end-to-end association learning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CAMELTrack - Improved Research Deck</dc:title>
  <dc:subject>CAMELTrack summary</dc:subject>
  <dc:creator>OpenAI</dc:creator>
  <cp:lastModifiedBy>OpenAI</cp:lastModifiedBy>
  <cp:revision>1</cp:revision>
  <dcterms:created xsi:type="dcterms:W3CDTF">2026-03-12T23:01:19Z</dcterms:created>
  <dcterms:modified xsi:type="dcterms:W3CDTF">2026-03-12T23:01:19Z</dcterms:modified>
</cp:coreProperties>
</file>