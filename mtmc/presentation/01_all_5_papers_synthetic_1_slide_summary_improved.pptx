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Markdown summary: /mnt/data/all_5_papers_synthetic_1_slide_summary.md
- Paper PDF: /mnt/data/CAMELTrack - Context-Aware Multi-cue ExpLoitation for Online Multi-Object Tracking.pdf
- Paper PDF: /mnt/data/MCBLT - Multi-Camera Multi-Object 3D Tracking in Long Videos.pdf
- Paper PDF: /mnt/data/Multiple Object Tracking as ID Prediction.pdf
- Paper PDF: /mnt/data/One Graph to Track Them All - Dynamic GNNs for Single and Multi-View Tracking.pdf
- Paper PDF: /mnt/data/ReST - A Reconfigurable Spatial-Temporal Graph Model for Multi-Camera Multi-Object Tracking.pdf
- Visuals in this deck are either programmatically drawn or derived from the cited paper PDFs.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59E0"/>
          </a:solidFill>
          <a:ln w="12700">
            <a:solidFill>
              <a:srgbClr val="3559E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10896"/>
            <a:ext cx="1965960" cy="310896"/>
          </a:xfrm>
          <a:prstGeom prst="roundRect">
            <a:avLst>
              <a:gd name="adj" fmla="val 8824"/>
            </a:avLst>
          </a:prstGeom>
          <a:solidFill>
            <a:srgbClr val="E1E6FA"/>
          </a:solidFill>
          <a:ln w="12700">
            <a:solidFill>
              <a:srgbClr val="E1E6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55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PAPERS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Synthesis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11173968" cy="13716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09960" y="36576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across CAMELTrack, MOTIP, ReST, MCBLT, and One Graph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0" y="6473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Papers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0" y="201168"/>
            <a:ext cx="1417320" cy="960120"/>
          </a:xfrm>
          <a:prstGeom prst="ellipse">
            <a:avLst/>
          </a:prstGeom>
          <a:solidFill>
            <a:srgbClr val="E1E6FA">
              <a:alpha val="65000"/>
            </a:srgbClr>
          </a:solidFill>
          <a:ln w="12700">
            <a:solidFill>
              <a:srgbClr val="E1E6F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715000"/>
            <a:ext cx="1234440" cy="777240"/>
          </a:xfrm>
          <a:prstGeom prst="ellipse">
            <a:avLst/>
          </a:prstGeom>
          <a:solidFill>
            <a:srgbClr val="E1E6FA">
              <a:alpha val="50000"/>
            </a:srgbClr>
          </a:solidFill>
          <a:ln w="12700">
            <a:solidFill>
              <a:srgbClr val="E1E6F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389888"/>
            <a:ext cx="4663440" cy="566928"/>
          </a:xfrm>
          <a:prstGeom prst="roundRect">
            <a:avLst/>
          </a:prstGeom>
          <a:solidFill>
            <a:srgbClr val="E5E9FB"/>
          </a:solidFill>
          <a:ln w="12700">
            <a:solidFill>
              <a:srgbClr val="B8C5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1481328"/>
            <a:ext cx="109728" cy="384048"/>
          </a:xfrm>
          <a:prstGeom prst="roundRect">
            <a:avLst/>
          </a:prstGeom>
          <a:solidFill>
            <a:srgbClr val="3559E0"/>
          </a:solidFill>
          <a:ln w="12700">
            <a:solidFill>
              <a:srgbClr val="3559E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1508760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355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performance improves when identity association is learned and geometry is moved earlier into the pipeline.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94360" y="2121408"/>
            <a:ext cx="1417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F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" y="2194560"/>
            <a:ext cx="109728" cy="2002536"/>
          </a:xfrm>
          <a:prstGeom prst="roundRect">
            <a:avLst/>
          </a:prstGeom>
          <a:solidFill>
            <a:srgbClr val="3559E0"/>
          </a:solidFill>
          <a:ln w="12700">
            <a:solidFill>
              <a:srgbClr val="3559E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24942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1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0392" y="2542032"/>
            <a:ext cx="108813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55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association on 2D detections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48840" y="2121408"/>
            <a:ext cx="1417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7C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21992" y="2194560"/>
            <a:ext cx="109728" cy="2002536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04872" y="224942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404872" y="2542032"/>
            <a:ext cx="108813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reasoning after detection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Graph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03320" y="2121408"/>
            <a:ext cx="1417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E3D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76472" y="2194560"/>
            <a:ext cx="109728" cy="2002536"/>
          </a:xfrm>
          <a:prstGeom prst="roundRect">
            <a:avLst/>
          </a:prstGeom>
          <a:solidFill>
            <a:srgbClr val="16A085"/>
          </a:solidFill>
          <a:ln w="12700">
            <a:solidFill>
              <a:srgbClr val="16A08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59352" y="224942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3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959352" y="2542032"/>
            <a:ext cx="108813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Early-fusion 3D tracking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MCBLT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4498848"/>
            <a:ext cx="4526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CDF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" y="4572000"/>
            <a:ext cx="109728" cy="1271016"/>
          </a:xfrm>
          <a:prstGeom prst="roundRect">
            <a:avLst/>
          </a:prstGeom>
          <a:solidFill>
            <a:srgbClr val="3559E0"/>
          </a:solidFill>
          <a:ln w="12700">
            <a:solidFill>
              <a:srgbClr val="3559E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4626864"/>
            <a:ext cx="4178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axes to remember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9808" y="4965192"/>
            <a:ext cx="73152" cy="73152"/>
          </a:xfrm>
          <a:prstGeom prst="ellipse">
            <a:avLst/>
          </a:prstGeom>
          <a:solidFill>
            <a:srgbClr val="3559E0"/>
          </a:solidFill>
          <a:ln w="12700">
            <a:solidFill>
              <a:srgbClr val="3559E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882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355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point: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late vs unified vs early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749808" y="5202936"/>
            <a:ext cx="73152" cy="73152"/>
          </a:xfrm>
          <a:prstGeom prst="ellipse">
            <a:avLst/>
          </a:prstGeom>
          <a:solidFill>
            <a:srgbClr val="3559E0"/>
          </a:solidFill>
          <a:ln w="12700">
            <a:solidFill>
              <a:srgbClr val="3559E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120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355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object: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distances, ID tokens, or graph edges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49808" y="5440680"/>
            <a:ext cx="73152" cy="73152"/>
          </a:xfrm>
          <a:prstGeom prst="ellipse">
            <a:avLst/>
          </a:prstGeom>
          <a:solidFill>
            <a:srgbClr val="3559E0"/>
          </a:solidFill>
          <a:ln w="12700">
            <a:solidFill>
              <a:srgbClr val="3559E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3583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355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prior: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none, ground plane, BEV 3D, or scene mesh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749808" y="5678424"/>
            <a:ext cx="73152" cy="73152"/>
          </a:xfrm>
          <a:prstGeom prst="ellipse">
            <a:avLst/>
          </a:prstGeom>
          <a:solidFill>
            <a:srgbClr val="3559E0"/>
          </a:solidFill>
          <a:ln w="12700">
            <a:solidFill>
              <a:srgbClr val="3559E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5961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355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handling: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cue history, prompts, reconfiguration, or global blocks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6766560" y="15361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5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 learning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555480" y="58064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5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richness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903720" y="5486400"/>
            <a:ext cx="4160520" cy="0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040880" y="5349240"/>
            <a:ext cx="0" cy="-3520440"/>
          </a:xfrm>
          <a:prstGeom prst="line">
            <a:avLst/>
          </a:prstGeom>
          <a:noFill/>
          <a:ln w="19050">
            <a:solidFill>
              <a:srgbClr val="111827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6821424" y="555955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2D cues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131552" y="555955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BEV / scene mesh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 rot="16200000">
            <a:off x="6400800" y="517550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heuristic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 rot="16200000">
            <a:off x="6400800" y="192024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learned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516368" y="4270248"/>
            <a:ext cx="237744" cy="23774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781544" y="432511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CAMELTrack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7790688" y="3675888"/>
            <a:ext cx="237744" cy="23774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055864" y="373075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MOTIP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8796528" y="4178808"/>
            <a:ext cx="237744" cy="23774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061704" y="423367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9893808" y="2990088"/>
            <a:ext cx="237744" cy="237744"/>
          </a:xfrm>
          <a:prstGeom prst="ellipse">
            <a:avLst/>
          </a:prstGeom>
          <a:solidFill>
            <a:srgbClr val="16A08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0158984" y="304495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MCBLT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9436608" y="3264408"/>
            <a:ext cx="237744" cy="237744"/>
          </a:xfrm>
          <a:prstGeom prst="ellipse">
            <a:avLst/>
          </a:prstGeom>
          <a:solidFill>
            <a:srgbClr val="2D9CD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701784" y="3319272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Graph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6720840" y="5870448"/>
            <a:ext cx="4754880" cy="420624"/>
          </a:xfrm>
          <a:prstGeom prst="roundRect">
            <a:avLst/>
          </a:prstGeom>
          <a:solidFill>
            <a:srgbClr val="E5E9FB"/>
          </a:solidFill>
          <a:ln w="12700">
            <a:solidFill>
              <a:srgbClr val="B8C5F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12280" y="5961888"/>
            <a:ext cx="109728" cy="237744"/>
          </a:xfrm>
          <a:prstGeom prst="roundRect">
            <a:avLst/>
          </a:prstGeom>
          <a:solidFill>
            <a:srgbClr val="3559E0"/>
          </a:solidFill>
          <a:ln w="12700">
            <a:solidFill>
              <a:srgbClr val="3559E0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95160" y="5989320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355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takeaway for a 3D team:</a:t>
            </a:r>
            <a:pPr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the richest geometry you can afford, but keep the association module learned and modular.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5 Papers - Core Synthesis</dc:title>
  <dc:subject>Synthetic comparison of five tracking papers</dc:subject>
  <dc:creator>OpenAI</dc:creator>
  <cp:lastModifiedBy>OpenAI</cp:lastModifiedBy>
  <cp:revision>1</cp:revision>
  <dcterms:created xsi:type="dcterms:W3CDTF">2026-03-12T23:01:19Z</dcterms:created>
  <dcterms:modified xsi:type="dcterms:W3CDTF">2026-03-12T23:01:19Z</dcterms:modified>
</cp:coreProperties>
</file>