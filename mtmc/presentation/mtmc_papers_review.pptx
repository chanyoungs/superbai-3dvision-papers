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Tracking.pdf, pp. 1-12.
- MCBLT - Multi-Camera Multi-Object 3D Tracking in Long Videos.pdf, pp. 1-13.
- One Graph to Track Them All - Dynamic GNNs for Single and Multi-View Tracking.pdf, pp. 1-21.
- CAMELTrack - Context-Aware Multi-cue ExpLoitation for Online Multi-Object Tracking.pdf, pp. 1-9, 13-21.
- Multiple Object Tracking as ID Prediction.pdf, pp. 1-8.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Tracking.pdf, pp. 1-12.
- MCBLT - Multi-Camera Multi-Object 3D Tracking in Long Videos.pdf, pp. 1-13.
- One Graph to Track Them All - Dynamic GNNs for Single and Multi-View Tracking.pdf, pp. 1-21.
- CAMELTrack - Context-Aware Multi-cue ExpLoitation for Online Multi-Object Tracking.pdf, pp. 1-9.
- Multiple Object Tracking as ID Prediction.pdf, pp. 1-8.
- The scatterplot is a qualitative synthesis generated for this deck from the cited papers' architectures and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Tracking.pdf, p. 7 (WildTrack Table 1), pp. 11-12 (model size and post-processing ablation).
- MCBLT - Multi-Camera Multi-Object 3D Tracking in Long Videos.pdf, pp. 7-8 (AICity Table 1, WildTrack Table 3), pp. 12-13 (runtime).
- One Graph to Track Them All - Dynamic GNNs for Single and Multi-View Tracking.pdf, pp. 9-12 (WILDTRACK/SCOUT/runtime).
- CAMELTrack - Context-Aware Multi-cue ExpLoitation for Online Multi-Object Tracking.pdf, pp. 6-8 (DanceTrack/SportsMOT/MOT17).
- Multiple Object Tracking as ID Prediction.pdf, pp. 6-8 (DanceTrack/SportsMOT/BFT).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Tracking.pdf, pp. 3-6.
- MCBLT - Multi-Camera Multi-Object 3D Tracking in Long Videos.pdf, pp. 3-6.
- One Graph to Track Them All - Dynamic GNNs for Single and Multi-View Tracking.pdf, pp. 4-7, 17-18.
- CAMELTrack - Context-Aware Multi-cue ExpLoitation for Online Multi-Object Tracking.pdf, pp. 3-5, 13-14.
- Multiple Object Tracking as ID Prediction.pdf, pp. 3-5.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Tracking.pdf, pp. 3-8 (architecture, results, feature ablations), pp. 11-12 (154K params, post-processing ablations).
- Diagram on this slide is synthesized from the paper's method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MCBLT - Multi-Camera Multi-Object 3D Tracking in Long Videos.pdf, pp. 3-8 (pipeline, AICity/WildTrack results), p. 8 (long-term association Table 5 and runtime discussion), pp. 12-13 (2D-3D association improvement and runtime).
- Diagram on this slide is synthesized from the paper's method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One Graph to Track Them All - Dynamic GNNs for Single and Multi-View Tracking.pdf, pp. 4-12 (dynamic graph, results, runtime), pp. 17-20 (scene priors, memory analysis, temporal distance and SCOUT statistics).
- Diagram on this slide is synthesized from the paper's method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CAMELTrack - Context-Aware Multi-cue ExpLoitation for Online Multi-Object Tracking.pdf, pp. 1-8, 13-18.
- Multiple Object Tracking as ID Prediction.pdf, pp. 1-8.
- Diagram on this slide is synthesized from the two papers' method descriptions.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Tracking.pdf, pp. 3-8.
- MCBLT - Multi-Camera Multi-Object 3D Tracking in Long Videos.pdf, pp. 3-8, 12-13.
- One Graph to Track Them All - Dynamic GNNs for Single and Multi-View Tracking.pdf, pp. 4-12, 17-20.
- CAMELTrack - Context-Aware Multi-cue ExpLoitation for Online Multi-Object Tracking.pdf, pp. 3-8, 13-18.
- Multiple Object Tracking as ID Prediction.pdf, pp. 3-8.
- The blueprint on this slide is a synthesized recommendation generated for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Tracking.pdf.
- MCBLT - Multi-Camera Multi-Object 3D Tracking in Long Videos.pdf.
- One Graph to Track Them All - Dynamic GNNs for Single and Multi-View Tracking.pdf.
- CAMELTrack - Context-Aware Multi-cue ExpLoitation for Online Multi-Object Tracking.pdf.
- Multiple Object Tracking as ID Prediction.pdf.
- This slide contains synthesized recommendations generated from the cited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- A Reconfigurable Spatial-Temporal Graph Model for Multi-Camera Multi-Object Tracking.pdf.
- MCBLT - Multi-Camera Multi-Object 3D Tracking in Long Videos.pdf.
- One Graph to Track Them All - Dynamic GNNs for Single and Multi-View Tracking.pdf.
- CAMELTrack - Context-Aware Multi-cue ExpLoitation for Online Multi-Object Tracking.pdf.
- Multiple Object Tracking as ID Prediction.pdf.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MTMC papers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D8E0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reconfigurable graphs to BEV long-term tracking</a:t>
            </a:r>
            <a:endParaRPr lang="en-US" sz="172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extract what matters for a production-quality multi-target multi-camera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121A2D"/>
          </a:solidFill>
          <a:ln w="12700">
            <a:solidFill>
              <a:srgbClr val="243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43230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8E0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papers  •  3 direct MTMC  •  2 association lessons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598932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9D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• MCBLT • One Graph / UMPN • CAMELTrack • MOTIP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58368" y="628192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8F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MTMC papers in focus; CAMELTrack and MOTIP are included to borrow stronger association ideas.</a:t>
            </a:r>
            <a:endParaRPr lang="en-US" sz="1060" dirty="0"/>
          </a:p>
        </p:txBody>
      </p:sp>
      <p:pic>
        <p:nvPicPr>
          <p:cNvPr id="9" name="Image 0" descr="/mnt/data/mtmc_review/assets/title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1613" y="530352"/>
            <a:ext cx="5096094" cy="5897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C9D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Cheng et al. 2023; Wang et al. 2025; Engilberge et al. 2025; Somers et al. 2025; Gao et al. 2024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synthesis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biggest MTMC gains come from geometry + memory; the next portable gain comes from learned association.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4069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ReST proves that splitting the problem into same-time cross-view linking and across-time linking repairs fragmented tracklets with very little compute.</a:t>
            </a:r>
            <a:endParaRPr lang="en-US" sz="1540" dirty="0"/>
          </a:p>
          <a:p>
            <a:pPr indent="0" marL="0">
              <a:buNone/>
            </a:pP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MCBLT gets the largest quality jump by fusing views earlier: detect in BEV, attach cleaner 2D appearance, then add a global long-term block.</a:t>
            </a:r>
            <a:endParaRPr lang="en-US" sz="1540" dirty="0"/>
          </a:p>
          <a:p>
            <a:pPr indent="0" marL="0">
              <a:buNone/>
            </a:pP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UMPN shows a single dynamic graph can cover both single- and multi-view tracking; scene priors help hardest sites.</a:t>
            </a:r>
            <a:endParaRPr lang="en-US" sz="1540" dirty="0"/>
          </a:p>
          <a:p>
            <a:pPr indent="0" marL="0">
              <a:buNone/>
            </a:pP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CAMELTrack and MOTIP suggest the next MTMC upgrade is not another handcrafted matcher, but a learned association layer over modular cues.</a:t>
            </a:r>
            <a:endParaRPr lang="en-US" sz="1540" dirty="0"/>
          </a:p>
        </p:txBody>
      </p:sp>
      <p:pic>
        <p:nvPicPr>
          <p:cNvPr id="8" name="Image 0" descr="/mnt/data/mtmc_review/assets/landscape_scatte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092835"/>
            <a:ext cx="6812280" cy="43522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BFD1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5815584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Synthesis: if cameras are calibrated, invest first in world/BEV geometry and long-term memory; then replace static cue fusion with a learned association head.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all five papers; chart is a qualitative synthesis of their design choices and reported capabilities.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Compact comparison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table for architectural fit; use the chart only directionally because detection settings differ.</a:t>
            </a:r>
            <a:endParaRPr lang="en-US" sz="1150" dirty="0"/>
          </a:p>
        </p:txBody>
      </p:sp>
      <p:pic>
        <p:nvPicPr>
          <p:cNvPr id="7" name="Image 0" descr="/mnt/data/mtmc_review/assets/summar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6229"/>
            <a:ext cx="7242048" cy="2663589"/>
          </a:xfrm>
          <a:prstGeom prst="rect">
            <a:avLst/>
          </a:prstGeom>
        </p:spPr>
      </p:pic>
      <p:pic>
        <p:nvPicPr>
          <p:cNvPr id="8" name="Image 1" descr="/mnt/data/mtmc_review/assets/wildtrack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185999"/>
            <a:ext cx="3703320" cy="28858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900416" y="4370832"/>
            <a:ext cx="3776472" cy="1234440"/>
          </a:xfrm>
          <a:prstGeom prst="roundRect">
            <a:avLst>
              <a:gd name="adj" fmla="val 5926"/>
            </a:avLst>
          </a:prstGeom>
          <a:solidFill>
            <a:srgbClr val="FAFBFD"/>
          </a:solidFill>
          <a:ln w="15240">
            <a:solidFill>
              <a:srgbClr val="0B102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900416" y="4370832"/>
            <a:ext cx="73152" cy="12344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65008" y="4480560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this slide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065008" y="4754880"/>
            <a:ext cx="35021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benchmark values are not apples-to-apples: the papers use different detectors, training data, and evaluation settings. Compare the system design first, then re-run on your own site data.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8F7F4"/>
          </a:solidFill>
          <a:ln w="12700">
            <a:solidFill>
              <a:srgbClr val="0F9D8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" y="5815584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MCBLT is the strongest “full-stack” MTMC paper here; ReST is the leanest online baseline; UMPN is the cleanest unification of single- and multi-view tracking.</a:t>
            </a:r>
            <a:endParaRPr lang="en-US" sz="1520" dirty="0"/>
          </a:p>
        </p:txBody>
      </p:sp>
      <p:sp>
        <p:nvSpPr>
          <p:cNvPr id="15" name="Text 11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from ReST (WildTrack), MCBLT (WildTrack/AICity), UMPN (WildTrack), CAMELTrack (DanceTrack/SportsMOT), and MOTIP (DanceTrack/SportsMOT).</a:t>
            </a:r>
            <a:endParaRPr lang="en-US" sz="880" dirty="0"/>
          </a:p>
        </p:txBody>
      </p:sp>
      <p:sp>
        <p:nvSpPr>
          <p:cNvPr id="16" name="Text 1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architectural patterns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papers cluster into late 2D graphs, early BEV/3D pipelines, and learned association heads that can sit on top of either.</a:t>
            </a:r>
            <a:endParaRPr lang="en-US" sz="1150" dirty="0"/>
          </a:p>
        </p:txBody>
      </p:sp>
      <p:pic>
        <p:nvPicPr>
          <p:cNvPr id="7" name="Image 0" descr="/mnt/data/mtmc_review/assets/taxonomy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268" y="960120"/>
            <a:ext cx="7880704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4406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8F7F4"/>
          </a:solidFill>
          <a:ln w="15240">
            <a:solidFill>
              <a:srgbClr val="0F9D8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5440680"/>
            <a:ext cx="73152" cy="868680"/>
          </a:xfrm>
          <a:prstGeom prst="rect">
            <a:avLst/>
          </a:prstGeom>
          <a:solidFill>
            <a:srgbClr val="0F9D8D"/>
          </a:solidFill>
          <a:ln w="12700">
            <a:solidFill>
              <a:srgbClr val="0F9D8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55504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 2D graph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7512" y="5824728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Fastest to adopt; easiest to retrofit into an existing detector + world-projection stack.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4270248" y="54406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3E5"/>
          </a:solidFill>
          <a:ln w="15240">
            <a:solidFill>
              <a:srgbClr val="F28E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0248" y="5440680"/>
            <a:ext cx="73152" cy="86868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55504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BEV / 3D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434840" y="5824728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choice when overlap is dense and long occlusions / re-entries dominate product risk.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8037576" y="54406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BEAEC"/>
          </a:solidFill>
          <a:ln w="15240">
            <a:solidFill>
              <a:srgbClr val="D64E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37576" y="5440680"/>
            <a:ext cx="73152" cy="868680"/>
          </a:xfrm>
          <a:prstGeom prst="rect">
            <a:avLst/>
          </a:prstGeom>
          <a:solidFill>
            <a:srgbClr val="D64E4E"/>
          </a:solidFill>
          <a:ln w="12700">
            <a:solidFill>
              <a:srgbClr val="D64E4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02168" y="55504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Learned association head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202168" y="5824728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upgrade: keep modular cues, but stop hand-tuning how they are fused for matching.</a:t>
            </a:r>
            <a:endParaRPr lang="en-US" sz="1230" dirty="0"/>
          </a:p>
        </p:txBody>
      </p:sp>
      <p:sp>
        <p:nvSpPr>
          <p:cNvPr id="20" name="Text 17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synthesized from the cited method sections: ReST, MCBLT, UMPN, CAMELTrack, and MOTIP.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ReST: spatial first, temporal second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use a lightweight two-stage graph instead of trusting a single-camera tracker to survive occlusion.</a:t>
            </a:r>
            <a:endParaRPr lang="en-US" sz="1150" dirty="0"/>
          </a:p>
        </p:txBody>
      </p:sp>
      <p:pic>
        <p:nvPicPr>
          <p:cNvPr id="7" name="Image 0" descr="/mnt/data/mtmc_review/assets/rest_diagra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30516"/>
            <a:ext cx="6675120" cy="26310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97280"/>
            <a:ext cx="1359408" cy="841248"/>
          </a:xfrm>
          <a:prstGeom prst="roundRect">
            <a:avLst>
              <a:gd name="adj" fmla="val 8696"/>
            </a:avLst>
          </a:prstGeom>
          <a:solidFill>
            <a:srgbClr val="E8F7F4"/>
          </a:solidFill>
          <a:ln w="12700">
            <a:solidFill>
              <a:srgbClr val="0F9D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15784" y="1170432"/>
            <a:ext cx="124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9D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15784" y="1499616"/>
            <a:ext cx="124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WildTrack IDF1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830056" y="1097280"/>
            <a:ext cx="1359408" cy="841248"/>
          </a:xfrm>
          <a:prstGeom prst="roundRect">
            <a:avLst>
              <a:gd name="adj" fmla="val 8696"/>
            </a:avLst>
          </a:prstGeom>
          <a:solidFill>
            <a:srgbClr val="E8F7F4"/>
          </a:solidFill>
          <a:ln w="12700">
            <a:solidFill>
              <a:srgbClr val="0F9D8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84920" y="1170432"/>
            <a:ext cx="124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9D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81.6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84920" y="1499616"/>
            <a:ext cx="124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WildTrack MOTA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299192" y="1097280"/>
            <a:ext cx="1359408" cy="841248"/>
          </a:xfrm>
          <a:prstGeom prst="roundRect">
            <a:avLst>
              <a:gd name="adj" fmla="val 8696"/>
            </a:avLst>
          </a:prstGeom>
          <a:solidFill>
            <a:srgbClr val="E8F7F4"/>
          </a:solidFill>
          <a:ln w="12700">
            <a:solidFill>
              <a:srgbClr val="0F9D8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54056" y="1170432"/>
            <a:ext cx="124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9D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154K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354056" y="1499616"/>
            <a:ext cx="124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trainable params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60920" y="21945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Spatial association matches objects across cameras at the current frame, then graph reconfiguration produces a compact temporal graph.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Projection to a common ground plane is the dominant cue; speed helps temporal linking; appearance is not heavily relied 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Practical implication: ReST is a strong low-latency baseline when calibration exists but a full BEV stack is too costly.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7548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E8F7F4"/>
          </a:solidFill>
          <a:ln w="15240">
            <a:solidFill>
              <a:srgbClr val="0F9D8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4754880"/>
            <a:ext cx="73152" cy="960120"/>
          </a:xfrm>
          <a:prstGeom prst="rect">
            <a:avLst/>
          </a:prstGeom>
          <a:solidFill>
            <a:srgbClr val="0F9D8D"/>
          </a:solidFill>
          <a:ln w="12700">
            <a:solidFill>
              <a:srgbClr val="0F9D8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" y="4864608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fit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67512" y="5138928"/>
            <a:ext cx="10881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calibrated cameras with overlapping fields of view, an online latency target, and a GPU budget that favors simple graph reasoning over heavy 3D perception.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(Cheng et al., ICCV 2023).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MCBLT: early BEV fusion + global long-term memory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solve cross-view ambiguity before tracking, then add a sequence-level block for very long occlusions.</a:t>
            </a:r>
            <a:endParaRPr lang="en-US" sz="1150" dirty="0"/>
          </a:p>
        </p:txBody>
      </p:sp>
      <p:pic>
        <p:nvPicPr>
          <p:cNvPr id="7" name="Image 0" descr="/mnt/data/mtmc_review/assets/mcblt_pipeli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16436"/>
            <a:ext cx="11109960" cy="1615584"/>
          </a:xfrm>
          <a:prstGeom prst="rect">
            <a:avLst/>
          </a:prstGeom>
        </p:spPr>
      </p:pic>
      <p:pic>
        <p:nvPicPr>
          <p:cNvPr id="8" name="Image 1" descr="/mnt/data/mtmc_review/assets/mcblt_longte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20" y="2880360"/>
            <a:ext cx="3816217" cy="2788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0" y="2907792"/>
            <a:ext cx="1969008" cy="822960"/>
          </a:xfrm>
          <a:prstGeom prst="roundRect">
            <a:avLst>
              <a:gd name="adj" fmla="val 8889"/>
            </a:avLst>
          </a:prstGeom>
          <a:solidFill>
            <a:srgbClr val="FFF3E5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41264" y="2980944"/>
            <a:ext cx="185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81.22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541264" y="3310128"/>
            <a:ext cx="185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AICity HOTA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565136" y="2907792"/>
            <a:ext cx="1969008" cy="822960"/>
          </a:xfrm>
          <a:prstGeom prst="roundRect">
            <a:avLst>
              <a:gd name="adj" fmla="val 8889"/>
            </a:avLst>
          </a:prstGeom>
          <a:solidFill>
            <a:srgbClr val="FFF3E5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20000" y="2980944"/>
            <a:ext cx="185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95.6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20000" y="3310128"/>
            <a:ext cx="185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WildTrack IDF1*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9643872" y="2907792"/>
            <a:ext cx="1969008" cy="822960"/>
          </a:xfrm>
          <a:prstGeom prst="roundRect">
            <a:avLst>
              <a:gd name="adj" fmla="val 8889"/>
            </a:avLst>
          </a:prstGeom>
          <a:solidFill>
            <a:srgbClr val="FFF3E5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698736" y="2980944"/>
            <a:ext cx="185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1.5 FPS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698736" y="3310128"/>
            <a:ext cx="185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@ 10 cams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532120" y="3822192"/>
            <a:ext cx="5897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9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BEVFormer aggregates multi-view image evidence before detection, reducing cross-view mismatch at the source.</a:t>
            </a:r>
            <a:endParaRPr lang="en-US" sz="1390" dirty="0"/>
          </a:p>
          <a:p>
            <a:pPr indent="0" marL="0">
              <a:buNone/>
            </a:pP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Their 2D–3D association step matters: it attaches cleaner 2D crops to 3D tracks, improving ReID quality.</a:t>
            </a:r>
            <a:endParaRPr lang="en-US" sz="1390" dirty="0"/>
          </a:p>
          <a:p>
            <a:pPr indent="0" marL="0">
              <a:buNone/>
            </a:pP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global block is the differentiator for product use: it extends association from window-sized heuristics to full-sequence memory.</a:t>
            </a:r>
            <a:endParaRPr lang="en-US" sz="1390" dirty="0"/>
          </a:p>
        </p:txBody>
      </p:sp>
      <p:sp>
        <p:nvSpPr>
          <p:cNvPr id="19" name="Text 15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MCBLT (Wang et al., arXiv 2025).  * best WildTrack number uses the same detections as EarlyBird.</a:t>
            </a:r>
            <a:endParaRPr lang="en-US" sz="880" dirty="0"/>
          </a:p>
        </p:txBody>
      </p:sp>
      <p:sp>
        <p:nvSpPr>
          <p:cNvPr id="20" name="Text 16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UMPN / One Graph: unify single- and multi-view tracking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a rolling online graph with view, temporal, context, and optional camera edges can cover many deployment modes.</a:t>
            </a:r>
            <a:endParaRPr lang="en-US" sz="1150" dirty="0"/>
          </a:p>
        </p:txBody>
      </p:sp>
      <p:pic>
        <p:nvPicPr>
          <p:cNvPr id="7" name="Image 0" descr="/mnt/data/mtmc_review/assets/umpn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15936"/>
            <a:ext cx="6720840" cy="3180208"/>
          </a:xfrm>
          <a:prstGeom prst="rect">
            <a:avLst/>
          </a:prstGeom>
        </p:spPr>
      </p:pic>
      <p:pic>
        <p:nvPicPr>
          <p:cNvPr id="8" name="Image 1" descr="/mnt/data/mtmc_review/assets/umpn_scenepri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760" y="1078992"/>
            <a:ext cx="3352800" cy="2514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60920" y="3767328"/>
            <a:ext cx="1207008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15784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96.3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15784" y="41696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WildTrack IDF1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677656" y="3767328"/>
            <a:ext cx="1207008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732520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93.9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32520" y="41696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WildTrack MOTA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9994392" y="3767328"/>
            <a:ext cx="1207008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049256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 FPS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049256" y="41696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2920" y="461772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4617720"/>
            <a:ext cx="73152" cy="10972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727448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67512" y="500176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UMPN is the cleanest “one family for many deployments” paper here: it runs online, spans single- and multi-view, and can exploit scene priors when a site map or mesh is available. The trade-off is heavier training memory.</a:t>
            </a:r>
            <a:endParaRPr lang="en-US" sz="1230" dirty="0"/>
          </a:p>
        </p:txBody>
      </p:sp>
      <p:sp>
        <p:nvSpPr>
          <p:cNvPr id="22" name="Text 18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Graph to Track Them All / UMPN (Engilberge et al., arXiv 2025).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Association lessons from CAMELTrack + MOTIP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single-view MOT papers, but their association mechanisms port directly to MTMC if the cue bank includes geometry and camera context.</a:t>
            </a:r>
            <a:endParaRPr lang="en-US" sz="1150" dirty="0"/>
          </a:p>
        </p:txBody>
      </p:sp>
      <p:pic>
        <p:nvPicPr>
          <p:cNvPr id="7" name="Image 0" descr="/mnt/data/mtmc_review/assets/camel_mot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678" y="932688"/>
            <a:ext cx="8604164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348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BEAEC"/>
          </a:solidFill>
          <a:ln w="15240">
            <a:solidFill>
              <a:srgbClr val="D64E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4434840"/>
            <a:ext cx="73152" cy="1417320"/>
          </a:xfrm>
          <a:prstGeom prst="rect">
            <a:avLst/>
          </a:prstGeom>
          <a:solidFill>
            <a:srgbClr val="D64E4E"/>
          </a:solidFill>
          <a:ln w="12700">
            <a:solidFill>
              <a:srgbClr val="D64E4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45445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CAMEL adds to MTMC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7512" y="4818888"/>
            <a:ext cx="5212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Learn cue fusion instead of hand-tuning EMA / Kalman / static weights.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 on synthetic hard association cases cheaply.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it 3D geometry, ReID, pose, zone, and visibility cues—not just 2D motion.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6172200" y="44348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E9FF"/>
          </a:solidFill>
          <a:ln w="15240">
            <a:solidFill>
              <a:srgbClr val="8A4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4434840"/>
            <a:ext cx="73152" cy="141732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6792" y="45445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MOTIP adds to MTMC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336792" y="4818888"/>
            <a:ext cx="5212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Reframe matching as ID decoding over track history.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prompts or memory tokens to keep association in-distribution.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Attractive option for re-entry-heavy environments where direct edge costs become brittle.</a:t>
            </a:r>
            <a:endParaRPr lang="en-US" sz="1230" dirty="0"/>
          </a:p>
        </p:txBody>
      </p:sp>
      <p:sp>
        <p:nvSpPr>
          <p:cNvPr id="16" name="Text 13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CAMELTrack (Somers et al., arXiv 2025) and MOTIP (Gao et al., CVPR 2024).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MTMC blueprint for our company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Assumption: fixed cameras, time synchronization, and at least coarse calibration. If not, start with the late-graph baseline first.</a:t>
            </a:r>
            <a:endParaRPr lang="en-US" sz="1150" dirty="0"/>
          </a:p>
        </p:txBody>
      </p:sp>
      <p:pic>
        <p:nvPicPr>
          <p:cNvPr id="7" name="Image 0" descr="/mnt/data/mtmc_review/assets/company_blueprin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99074"/>
            <a:ext cx="11311128" cy="17086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730752"/>
            <a:ext cx="2157984" cy="932688"/>
          </a:xfrm>
          <a:prstGeom prst="roundRect">
            <a:avLst>
              <a:gd name="adj" fmla="val 7843"/>
            </a:avLst>
          </a:prstGeom>
          <a:solidFill>
            <a:srgbClr val="FFF3E5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648" y="389534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39044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8408" y="384048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Geometry-first: track in world / BEV if cameras are calibrated.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2761488" y="3730752"/>
            <a:ext cx="2157984" cy="932688"/>
          </a:xfrm>
          <a:prstGeom prst="roundRect">
            <a:avLst>
              <a:gd name="adj" fmla="val 7843"/>
            </a:avLst>
          </a:prstGeom>
          <a:solidFill>
            <a:srgbClr val="FBEAEC"/>
          </a:solidFill>
          <a:ln w="12700">
            <a:solidFill>
              <a:srgbClr val="D64E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1216" y="389534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4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71216" y="39044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E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36976" y="384048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2D branch: it rescues 3D misses and improves ReID crops.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5020056" y="3730752"/>
            <a:ext cx="2157984" cy="932688"/>
          </a:xfrm>
          <a:prstGeom prst="roundRect">
            <a:avLst>
              <a:gd name="adj" fmla="val 7843"/>
            </a:avLst>
          </a:prstGeom>
          <a:solidFill>
            <a:srgbClr val="E8F7F4"/>
          </a:solidFill>
          <a:ln w="12700">
            <a:solidFill>
              <a:srgbClr val="0F9D8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9784" y="389534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9784" y="39044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95544" y="384048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same-time cross-view merge from across-time linking.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278624" y="3730752"/>
            <a:ext cx="2157984" cy="932688"/>
          </a:xfrm>
          <a:prstGeom prst="roundRect">
            <a:avLst>
              <a:gd name="adj" fmla="val 7843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88352" y="389534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39044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54112" y="384048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cue fusion instead of tuning cost weights by hand.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9537192" y="3730752"/>
            <a:ext cx="2157984" cy="932688"/>
          </a:xfrm>
          <a:prstGeom prst="roundRect">
            <a:avLst>
              <a:gd name="adj" fmla="val 7843"/>
            </a:avLst>
          </a:prstGeom>
          <a:solidFill>
            <a:srgbClr val="F8F5FD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46920" y="389534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46920" y="39044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4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12680" y="384048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global memory + visibility priors for re-entry and long occlusion.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" y="5815584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synthesis: MCBLT front-end + ReST-style stage separation + UMPN scene priors + CAMEL/MOTIP learned association.</a:t>
            </a:r>
            <a:endParaRPr lang="en-US" sz="1520" dirty="0"/>
          </a:p>
        </p:txBody>
      </p:sp>
      <p:sp>
        <p:nvSpPr>
          <p:cNvPr id="30" name="Text 27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synthesized from ReST, MCBLT, UMPN, CAMELTrack, and MOTIP.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 and decision rules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strongest cheap baseline, then pay complexity only when the product need is real.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implementation path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1261872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E8F7F4"/>
          </a:solidFill>
          <a:ln w="15240">
            <a:solidFill>
              <a:srgbClr val="0F9D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 •  strong online baseline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4944" y="1664208"/>
            <a:ext cx="4599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Per-view detector + world projection + ReST/UMPN-style online graph. First target: reliable IDs, evaluation tooling, and failure taxonomy on your own site.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2697480" y="2377440"/>
            <a:ext cx="502920" cy="320040"/>
          </a:xfrm>
          <a:prstGeom prst="chevron">
            <a:avLst/>
          </a:prstGeom>
          <a:solidFill>
            <a:srgbClr val="D6DCE5"/>
          </a:solidFill>
          <a:ln w="12700">
            <a:solidFill>
              <a:srgbClr val="D6DCE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61488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BEAEC"/>
          </a:solidFill>
          <a:ln w="15240">
            <a:solidFill>
              <a:srgbClr val="D64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87121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 •  learned association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4944" y="3163824"/>
            <a:ext cx="4599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modular cue bank, but swap static fusion for a CAMEL- or MOTIP-style association head trained on hard synthetic cases.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2697480" y="3877056"/>
            <a:ext cx="502920" cy="320040"/>
          </a:xfrm>
          <a:prstGeom prst="chevron">
            <a:avLst/>
          </a:prstGeom>
          <a:solidFill>
            <a:srgbClr val="D6DCE5"/>
          </a:solidFill>
          <a:ln w="12700">
            <a:solidFill>
              <a:srgbClr val="D6DCE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61104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3E5"/>
          </a:solidFill>
          <a:ln w="15240">
            <a:solidFill>
              <a:srgbClr val="F28E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370832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 •  BEV / 3D branch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4944" y="4663440"/>
            <a:ext cx="4599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when overlap is dense and long occlusions matter: add MCBLT-style early BEV proposals and a global block for re-entry-heavy scenes.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806440" y="1234440"/>
            <a:ext cx="5852160" cy="4160520"/>
          </a:xfrm>
          <a:prstGeom prst="roundRect">
            <a:avLst>
              <a:gd name="adj" fmla="val 1758"/>
            </a:avLst>
          </a:prstGeom>
          <a:solidFill>
            <a:srgbClr val="FAFBFD"/>
          </a:solidFill>
          <a:ln w="15240">
            <a:solidFill>
              <a:srgbClr val="0B1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234440"/>
            <a:ext cx="73152" cy="416052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134416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rules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71032" y="1618488"/>
            <a:ext cx="557784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Dense overlap + long occlusions  →  prioritize early BEV / 3D.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Partial overlap or shaky calibration  →  start with a late-graph baseline.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Edge / real-time deployment  →  keep ReST or UMPN core and defer BEV.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re-entry rate  →  add global memory and an ID-decoder sooner.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 environment  →  invest first in synchronization, calibration, and site evaluation data.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8F7F4"/>
          </a:solidFill>
          <a:ln w="12700">
            <a:solidFill>
              <a:srgbClr val="0F9D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5815584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wrong optimization is “more matcher heuristics.” The right optimization is “better geometry, better memory, better learned fusion.”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 across all five papers.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citations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5669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Page-level source details for each slide are included in the speaker notes.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D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28930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Cheng, C.-C., Qiu, M.-X., Chiang, C.-K., &amp; Lai, S.-H. (2023). ReST: A Reconfigurable Spatial-Temporal Graph Model for Multi-Camera Multi-Object Tracking. ICCV 2023.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MCBLT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70662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Wang, Y., Meinhardt, T., Cetintas, O., Yang, C.-Y., Pusegaonkar, S. S., Missaoui, B., Biswas, S., Tang, Z., &amp; Leal-Taixé, L. (2025). MCBLT: Multi-Camera Multi-Object 3D Tracking in Long Videos. arXiv:2412.00692.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Graph / UMPN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12394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Engilberge, M., Vrkic, I., Grosche, F. W., Pilet, J., Türetken, E., &amp; Fua, P. (2025). One Graph to Track Them All: Dynamic GNNs for Single- and Multi-View Tracking. arXiv:2507.08494.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051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E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CAMELTrack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28930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Somers, V., Standaert, B., Joos, V., Alahi, A., &amp; De Vleeschouwer, C. (2025). CAMELTrack: Context-Aware Multi-cue ExpLoitation for Online Multi-Object Tracking. arXiv:2505.01257.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468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70662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Gao, R., Qi, J., &amp; Wang, L. (2024). Multiple Object Tracking as ID Prediction. CVPR 2024.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886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note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412394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last two papers are not MTMC papers; they are included because their learned association modules offer reusable ideas for a modular MTMC stack.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5815584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E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summary: use the three direct MTMC papers for system architecture, and the two MOT papers for association design.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citations correspond to the five uploaded source papers.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MTMC papers review</dc:title>
  <dc:subject>MTMC papers review</dc:subject>
  <dc:creator>OpenAI</dc:creator>
  <cp:lastModifiedBy>OpenAI</cp:lastModifiedBy>
  <cp:revision>1</cp:revision>
  <dcterms:created xsi:type="dcterms:W3CDTF">2026-03-11T18:04:47Z</dcterms:created>
  <dcterms:modified xsi:type="dcterms:W3CDTF">2026-03-11T18:04:47Z</dcterms:modified>
</cp:coreProperties>
</file>