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Generated figure: images/taxonomy.png from src/build_assets.py
- MCTR https://arxiv.org/abs/2408.13243
- GMT https://arxiv.org/abs/2407.01007
- ADA-Track https://openaccess.thecvf.com/content/CVPR2024/html/Ding_ADA-Track_End-to-End_Multi-Camera_3D_Multi-Object_Tracking_with_Alternating_Detection_and_CVPR_2024_paper.html
- ADA-Track++ https://arxiv.org/abs/2405.08909
- MCBLT https://arxiv.org/abs/2412.00692
- ADMCMT https://openaccess.thecvf.com/content/CVPR2025/html/Fan_All-Day_Multi-Camera_Multi-Target_Tracking_CVPR_2025_paper.html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Generated figure: images/timeline.png from src/build_assets.py
- MCTR https://arxiv.org/abs/2408.13243
- GMT https://arxiv.org/abs/2407.01007
- ADA-Track https://openaccess.thecvf.com/content/CVPR2024/html/Ding_ADA-Track_End-to-End_Multi-Camera_3D_Multi-Object_Tracking_with_Alternating_Detection_and_CVPR_2024_paper.html
- AI City 2025 overview https://arxiv.org/html/2508.13564v1
- Sparse4D outside-in https://arxiv.org/abs/2601.10819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Generated figure: images/taxonomy.png from src/build_assets.py
- MCBLT https://arxiv.org/abs/2412.00692
- ADMCMT https://openaccess.thecvf.com/content/CVPR2025/html/Fan_All-Day_Multi-Camera_Multi-Target_Tracking_CVPR_2025_paper.html
- CALIBFREE https://openreview.net/forum?id=4kb6vectZ3
- DGT https://www.nature.com/articles/s41598-026-35768-z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Generated figure: images/dataset_landscape.png from src/build_assets.py
- CityFlow https://arxiv.org/abs/1903.09254
- WILDTRACK https://www.epfl.ch/labs/cvlab/data/data-wildtrack/
- M3Track / ADMCMT https://openaccess.thecvf.com/content/CVPR2025/html/Fan_All-Day_Multi-Camera_Multi-Target_Tracking_CVPR_2025_paper.html
- AI City 2025 overview https://arxiv.org/html/2508.13564v1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MCTR https://arxiv.org/abs/2408.13243
- GMT https://arxiv.org/abs/2407.01007
- Generated figure: images/comparison_matrix.png from src/build_assets.py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ADA-Track https://openaccess.thecvf.com/content/CVPR2024/html/Ding_ADA-Track_End-to-End_Multi-Camera_3D_Multi-Object_Tracking_with_Alternating_Detection_and_CVPR_2024_paper.html
- ADA-Track++ https://arxiv.org/abs/2405.08909
- Sparse4D outside-in https://arxiv.org/abs/2601.10819
- Generated figure: images/recommended_stack.png from src/build_assets.py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MCBLT https://arxiv.org/abs/2412.00692
- DepthTrack https://openaccess.thecvf.com/content/ICCV2025W/AICity/papers/Tran_DepthTrack_Cluster_Meets_BEV_for_Multi-Camera_Multi-Target_3D_Tracking_ICCVW_2025_paper.pdf
- TeamQDT https://arxiv.org/html/2509.09946v1
- AI City 2025 overview https://arxiv.org/html/2508.13564v1
- Generated figure: images/ai_city_2025_context.png from src/build_assets.py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ADMCMT / M3Track https://openaccess.thecvf.com/content/CVPR2025/html/Fan_All-Day_Multi-Camera_Multi-Target_Tracking_CVPR_2025_paper.html
- CALIBFREE https://openreview.net/forum?id=4kb6vectZ3
- DGT https://www.nature.com/articles/s41598-026-35768-z
- Sparse4D optimization https://arxiv.org/abs/2602.00450
- Generated figure: images/dataset_landscape.png from src/build_assets.py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Generated figure: images/comparison_matrix.png from src/build_assets.py
- Review synthesis from cited papers in report.md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Generated figure: images/recommended_stack.png from src/build_assets.py
- Sparse4D outside-in https://arxiv.org/abs/2601.10819
- ADA-Track++ https://arxiv.org/abs/2405.08909
- GMT https://arxiv.org/abs/2407.01007
- MCBLT https://arxiv.org/abs/2412.00692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Sparse4D optimization / AvgTrackDur https://arxiv.org/abs/2602.00450
- Review synthesis from report.md and cited papers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7724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Latest MTMC models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how to build the next 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2606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770"/>
                </a:solidFill>
              </a:rPr>
              <a:t>Survey review through 12 Mar 2026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21792" y="2907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226"/>
                </a:solidFill>
              </a:rPr>
              <a:t>Report + recommendations for a production-focused MTMC team</a:t>
            </a:r>
            <a:endParaRPr lang="en-US" sz="1400" dirty="0"/>
          </a:p>
        </p:txBody>
      </p:sp>
      <p:pic>
        <p:nvPicPr>
          <p:cNvPr id="6" name="Image 0" descr="/mnt/data/mtmc_pkg/images/taxon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706778"/>
            <a:ext cx="6217920" cy="30878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3504" y="370332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EDF3F7"/>
          </a:solidFill>
          <a:ln w="12700">
            <a:solidFill>
              <a:srgbClr val="D4DCE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91363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226"/>
                </a:solidFill>
              </a:rPr>
              <a:t>Focus of this deck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226"/>
                </a:solidFill>
              </a:rPr>
              <a:t>• model families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226"/>
                </a:solidFill>
              </a:rPr>
              <a:t>• latest benchmark context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226"/>
                </a:solidFill>
              </a:rPr>
              <a:t>• recommended hybrid stack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What changed in MTMC research over the last two years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4892040" cy="224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226"/>
                </a:solidFill>
              </a:rPr>
              <a:t>Cross-camera identity is moving from heuristic post-processing to learned global association (MCTR, GMT).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226"/>
                </a:solidFill>
              </a:rPr>
              <a:t>A shared 3D / world state is increasingly the strongest way to stabilize handoff across views (ADA-Track++, MCBLT, Sparse4D-OI).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226"/>
                </a:solidFill>
              </a:rPr>
              <a:t>Deployment constraints now matter explicitly: online mode, camera-only inference, low-light, low-FPS, and calibration-light setups.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" y="3877056"/>
            <a:ext cx="4754880" cy="1234440"/>
          </a:xfrm>
          <a:prstGeom prst="roundRect">
            <a:avLst>
              <a:gd name="adj" fmla="val 3704"/>
            </a:avLst>
          </a:prstGeom>
          <a:solidFill>
            <a:srgbClr val="EAF4F1"/>
          </a:solidFill>
          <a:ln w="12700">
            <a:solidFill>
              <a:srgbClr val="C9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114800"/>
            <a:ext cx="4343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226"/>
                </a:solidFill>
              </a:rPr>
              <a:t>Bottom line: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E2226"/>
                </a:solidFill>
              </a:rPr>
              <a:t>Use a world-coordinate query memory, learn association inside the perception loop, and keep a slower global cleanup path.</a:t>
            </a:r>
            <a:endParaRPr lang="en-US" sz="1700" dirty="0"/>
          </a:p>
        </p:txBody>
      </p:sp>
      <p:pic>
        <p:nvPicPr>
          <p:cNvPr id="8" name="Image 0" descr="/mnt/data/mtmc_pkg/images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2489558"/>
            <a:ext cx="6035040" cy="20160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Taxonomy of the current MTMC landscape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pic>
        <p:nvPicPr>
          <p:cNvPr id="4" name="Image 0" descr="/mnt/data/mtmc_pkg/images/taxono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55997"/>
            <a:ext cx="7589520" cy="376896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417320"/>
            <a:ext cx="3246120" cy="4526280"/>
          </a:xfrm>
          <a:prstGeom prst="roundRect">
            <a:avLst>
              <a:gd name="adj" fmla="val 1408"/>
            </a:avLst>
          </a:prstGeom>
          <a:solidFill>
            <a:srgbClr val="F4F7FA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41080" y="16733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3F"/>
                </a:solidFill>
              </a:rPr>
              <a:t>How to read the field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22208" y="2011680"/>
            <a:ext cx="283464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2D global association: simpler stack, strongest when cameras overlap a lot.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3D query-based: most elegant joint perception + association story.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Geometry-first / BEV: often strongest in structured challenge settings.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Multimodal: important only when lighting is a real failure mode.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Calibration-light / deployment: crucial for operational reality.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benchmark landscape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pic>
        <p:nvPicPr>
          <p:cNvPr id="4" name="Image 0" descr="/mnt/data/mtmc_pkg/images/dataset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14143"/>
            <a:ext cx="6537960" cy="35155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371600"/>
            <a:ext cx="4206240" cy="4663440"/>
          </a:xfrm>
          <a:prstGeom prst="roundRect">
            <a:avLst>
              <a:gd name="adj" fmla="val 1087"/>
            </a:avLst>
          </a:prstGeom>
          <a:solidFill>
            <a:srgbClr val="F4F7FA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3F"/>
                </a:solidFill>
              </a:rPr>
              <a:t>Why the benchmarks matter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516368" y="1965960"/>
            <a:ext cx="3749040" cy="3337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WILDTRACK: calibrated overlapping pedestrians; still useful for geometry and transfer stress tests.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MMPTrack: indoor people benchmark that exposes occlusion-heavy retail failure cases.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M3Track: first strong all-day RGBT MCMT dataset.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AI City 2025 Track 1: most important recent pressure test for large-scale 3D MTMC.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35240" y="54406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E2226"/>
                </a:solidFill>
              </a:rPr>
              <a:t>Rule of thumb: pick your benchmark by deployment regime, not by convenience.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Family 1: 2D global association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The field is moving beyond “single-camera tracks first, cross-camera cleanup later”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6172200" cy="384048"/>
          </a:xfrm>
          <a:prstGeom prst="roundRect">
            <a:avLst>
              <a:gd name="adj" fmla="val 7143"/>
            </a:avLst>
          </a:prstGeom>
          <a:solidFill>
            <a:srgbClr val="2A5B76"/>
          </a:solidFill>
          <a:ln w="12700">
            <a:solidFill>
              <a:srgbClr val="2A5B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Model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828800" y="15270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Key idea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80560" y="15270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Headline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58368" y="1847088"/>
            <a:ext cx="6172200" cy="6400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0025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226"/>
                </a:solidFill>
              </a:rPr>
              <a:t>MCTR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28800" y="1947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226"/>
                </a:solidFill>
              </a:rPr>
              <a:t>End-to-end tracking + association modules on top of DETR-like detection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4480560" y="19476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E2226"/>
                </a:solidFill>
              </a:rPr>
              <a:t>71.81 HOTA / 80.21 IDF1 / 91.19 MOTA on MMPTrack industry; 9 FPS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658368" y="2578608"/>
            <a:ext cx="6172200" cy="640080"/>
          </a:xfrm>
          <a:prstGeom prst="roundRect">
            <a:avLst>
              <a:gd name="adj" fmla="val 2857"/>
            </a:avLst>
          </a:prstGeom>
          <a:solidFill>
            <a:srgbClr val="F7FAFC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7340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226"/>
                </a:solidFill>
              </a:rPr>
              <a:t>GMT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828800" y="26791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E2226"/>
                </a:solidFill>
              </a:rPr>
              <a:t>Use global trajectories across views as the primary object</a:t>
            </a:r>
            <a:endParaRPr lang="en-US" sz="1270" dirty="0"/>
          </a:p>
        </p:txBody>
      </p:sp>
      <p:sp>
        <p:nvSpPr>
          <p:cNvPr id="16" name="Text 14"/>
          <p:cNvSpPr/>
          <p:nvPr/>
        </p:nvSpPr>
        <p:spPr>
          <a:xfrm>
            <a:off x="4480560" y="26791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E2226"/>
                </a:solidFill>
              </a:rPr>
              <a:t>Up to +21.3% CVMA / +17.2% CVIDF1 over prior two-stage methods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685800" y="3886200"/>
            <a:ext cx="603504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E2226"/>
                </a:solidFill>
              </a:rPr>
              <a:t>Best when cameras overlap substantially and you want a lighter stack than full 3D perception.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E2226"/>
                </a:solidFill>
              </a:rPr>
              <a:t>The conceptual win: multi-camera cues help decide identity early, not only recover mistakes later.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E2226"/>
                </a:solidFill>
              </a:rPr>
              <a:t>Limitation: world consistency is still weaker than in world-coordinate / 3D systems.</a:t>
            </a:r>
            <a:endParaRPr lang="en-US" sz="1650" dirty="0"/>
          </a:p>
        </p:txBody>
      </p:sp>
      <p:pic>
        <p:nvPicPr>
          <p:cNvPr id="18" name="Image 0" descr="/mnt/data/mtmc_pkg/images/comparis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628308"/>
            <a:ext cx="4160520" cy="197628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52360" y="5532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226"/>
                </a:solidFill>
              </a:rPr>
              <a:t>MCTR and GMT are the clearest modern rejection of heuristic-heavy late MTMC.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Family 2: query-based 3D systems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Shared object queries + temporal memory are becoming the cleanest MTMC abstraction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6199632" cy="384048"/>
          </a:xfrm>
          <a:prstGeom prst="roundRect">
            <a:avLst>
              <a:gd name="adj" fmla="val 714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813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Model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993392" y="148132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What changed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480560" y="148132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</a:rPr>
              <a:t>Why it matters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658368" y="1810512"/>
            <a:ext cx="6199632" cy="585216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6596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26"/>
                </a:solidFill>
              </a:rPr>
              <a:t>ADA-Track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93392" y="191109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6"/>
                </a:solidFill>
              </a:rPr>
              <a:t>Alternating detection and association in the decoder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80560" y="191109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6"/>
                </a:solidFill>
              </a:rPr>
              <a:t>Bridges tracking-by-attention and tracking-by-detection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2487168"/>
            <a:ext cx="6199632" cy="585216"/>
          </a:xfrm>
          <a:prstGeom prst="roundRect">
            <a:avLst>
              <a:gd name="adj" fmla="val 3125"/>
            </a:avLst>
          </a:prstGeom>
          <a:solidFill>
            <a:srgbClr val="F7FAFC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64261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26"/>
                </a:solidFill>
              </a:rPr>
              <a:t>ADA-Track++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93392" y="258775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6"/>
                </a:solidFill>
              </a:rPr>
              <a:t>Edge-augmented association + auxiliary token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80560" y="25877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6"/>
                </a:solidFill>
              </a:rPr>
              <a:t>Improves association stability and raises AMOTA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163824"/>
            <a:ext cx="6199632" cy="585216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E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3192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26"/>
                </a:solidFill>
              </a:rPr>
              <a:t>Sparse4D-OI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93392" y="32644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6"/>
                </a:solidFill>
              </a:rPr>
              <a:t>Adapts sparse query memory to outside-in static camera networks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80560" y="32644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26"/>
                </a:solidFill>
              </a:rPr>
              <a:t>Best online camera-only result among reported AI City 2025 systems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4572000"/>
            <a:ext cx="6355080" cy="914400"/>
          </a:xfrm>
          <a:prstGeom prst="roundRect">
            <a:avLst>
              <a:gd name="adj" fmla="val 4000"/>
            </a:avLst>
          </a:prstGeom>
          <a:solidFill>
            <a:srgbClr val="EAF4F1"/>
          </a:solidFill>
          <a:ln w="12700">
            <a:solidFill>
              <a:srgbClr val="D0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9204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226"/>
                </a:solidFill>
              </a:rPr>
              <a:t>Shared pattern: the model tracks persistent objects, not just boxes.</a:t>
            </a:r>
            <a:endParaRPr lang="en-US" sz="1700" dirty="0"/>
          </a:p>
        </p:txBody>
      </p:sp>
      <p:pic>
        <p:nvPicPr>
          <p:cNvPr id="23" name="Image 0" descr="/mnt/data/mtmc_pkg/images/recommended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714324"/>
            <a:ext cx="4297680" cy="228888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Family 3: geometry-first / challenge systems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The strongest structured-environment results still lean heavily on geometry, BEV, depth, and long-horizon association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417320"/>
            <a:ext cx="516636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226"/>
                </a:solidFill>
              </a:rPr>
              <a:t>MCBLT: BEV + hierarchical GNNs; strong evidence that world-state-first design helps long videos.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226"/>
                </a:solidFill>
              </a:rPr>
              <a:t>DepthTrack: Tracklet-Cluster Mapping links BEV tracklets with 3D point clusters; 2nd place on AI City 2025 Track 1.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1E2226"/>
                </a:solidFill>
              </a:rPr>
              <a:t>TeamQDT: practical recipe that upgrades an existing 2D MTMC stack into 3D with late depth fusion.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13232" y="3977640"/>
            <a:ext cx="5074920" cy="1298448"/>
          </a:xfrm>
          <a:prstGeom prst="roundRect">
            <a:avLst>
              <a:gd name="adj" fmla="val 3521"/>
            </a:avLst>
          </a:prstGeom>
          <a:solidFill>
            <a:srgbClr val="F4EFE6"/>
          </a:solidFill>
          <a:ln w="12700">
            <a:solidFill>
              <a:srgbClr val="E2D7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3425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226"/>
                </a:solidFill>
              </a:rPr>
              <a:t>Takeaway: if your deployment resembles a warehouse or synthetic smart-space benchmark, geometry is still a huge advantage.</a:t>
            </a:r>
            <a:endParaRPr lang="en-US" sz="1650" dirty="0"/>
          </a:p>
        </p:txBody>
      </p:sp>
      <p:pic>
        <p:nvPicPr>
          <p:cNvPr id="8" name="Image 0" descr="/mnt/data/mtmc_pkg/images/ai_city_2025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529108"/>
            <a:ext cx="5440680" cy="25770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Family 4: robustness and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The latest papers are finally tackling the failure modes product teams actually care about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5166360" cy="4526280"/>
          </a:xfrm>
          <a:prstGeom prst="roundRect">
            <a:avLst>
              <a:gd name="adj" fmla="val 1010"/>
            </a:avLst>
          </a:prstGeom>
          <a:solidFill>
            <a:srgbClr val="F4F7FA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3F"/>
                </a:solidFill>
              </a:rPr>
              <a:t>Three important directions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993392"/>
            <a:ext cx="4572000" cy="2926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E2226"/>
                </a:solidFill>
              </a:rPr>
              <a:t>ADMCMT / M3Track: use thermal + lighting-guided fusion for all-day tracking.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E2226"/>
                </a:solidFill>
              </a:rPr>
              <a:t>CALIBFREE: learn view-agnostic embeddings without precise calibration or labels (promising but still immature).</a:t>
            </a:r>
            <a:endParaRPr lang="en-US" sz="1650" dirty="0"/>
          </a:p>
          <a:p>
            <a:pPr marL="177800" indent="-177800">
              <a:buSzPct val="100000"/>
              <a:buChar char="•"/>
            </a:pPr>
            <a:r>
              <a:rPr lang="en-US" sz="1650" dirty="0">
                <a:solidFill>
                  <a:srgbClr val="1E2226"/>
                </a:solidFill>
              </a:rPr>
              <a:t>DGT and optimization work: prioritize latency, online global tracking, low-FPS robustness, and camera scalability.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96112" y="5166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i="1" dirty="0">
                <a:solidFill>
                  <a:srgbClr val="1E2226"/>
                </a:solidFill>
              </a:rPr>
              <a:t>Guiding principle: add complexity only when it removes a real failure mode.</a:t>
            </a:r>
            <a:endParaRPr lang="en-US" sz="1520" dirty="0"/>
          </a:p>
        </p:txBody>
      </p:sp>
      <p:pic>
        <p:nvPicPr>
          <p:cNvPr id="9" name="Image 0" descr="/mnt/data/mtmc_pkg/images/dataset_landsca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342579"/>
            <a:ext cx="5486400" cy="295008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and contrast: what each family buys you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pic>
        <p:nvPicPr>
          <p:cNvPr id="4" name="Image 0" descr="/mnt/data/mtmc_pkg/images/comparis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55106"/>
            <a:ext cx="6675120" cy="3170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417320"/>
            <a:ext cx="3840480" cy="4572000"/>
          </a:xfrm>
          <a:prstGeom prst="roundRect">
            <a:avLst>
              <a:gd name="adj" fmla="val 1190"/>
            </a:avLst>
          </a:prstGeom>
          <a:solidFill>
            <a:srgbClr val="F4F7FA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54112" y="1691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3F"/>
                </a:solidFill>
              </a:rPr>
              <a:t>Decision rule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35240" y="2011680"/>
            <a:ext cx="338328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If ops simplicity wins: start near MCTR / GMT.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If long-horizon identity wins: move to world-state / 3D.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If low light wins: add thermal, not just a better ReID head.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If calibration is unstable: keep a calibration-light backup path.</a:t>
            </a:r>
            <a:endParaRPr lang="en-US" sz="1550" dirty="0"/>
          </a:p>
          <a:p>
            <a:pPr marL="177800" indent="-177800">
              <a:buSzPct val="100000"/>
              <a:buChar char="•"/>
            </a:pPr>
            <a:r>
              <a:rPr lang="en-US" sz="1550" dirty="0">
                <a:solidFill>
                  <a:srgbClr val="1E2226"/>
                </a:solidFill>
              </a:rPr>
              <a:t>If latency wins: protect online mode and use offline refinement separately.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hybrid stack for your MTMC team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</a:rPr>
              <a:t>Combine the best ideas instead of copying any single paper end to end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pic>
        <p:nvPicPr>
          <p:cNvPr id="5" name="Image 0" descr="/mnt/data/mtmc_pkg/images/recommended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30125"/>
            <a:ext cx="7635240" cy="40664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444752"/>
            <a:ext cx="3246120" cy="4480560"/>
          </a:xfrm>
          <a:prstGeom prst="roundRect">
            <a:avLst>
              <a:gd name="adj" fmla="val 1408"/>
            </a:avLst>
          </a:prstGeom>
          <a:solidFill>
            <a:srgbClr val="F4F7FA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68512" y="17190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3F"/>
                </a:solidFill>
              </a:rPr>
              <a:t>What to borrow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540496" y="2057400"/>
            <a:ext cx="2788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E2226"/>
                </a:solidFill>
              </a:rPr>
              <a:t>World-coordinate query memory from Sparse4D / MCBLT.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E2226"/>
                </a:solidFill>
              </a:rPr>
              <a:t>In-loop association from ADA-Track++.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E2226"/>
                </a:solidFill>
              </a:rPr>
              <a:t>Global trajectory memory from GMT.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E2226"/>
                </a:solidFill>
              </a:rPr>
              <a:t>Occlusion-aware identity layer and optional graph smoother.</a:t>
            </a:r>
            <a:endParaRPr lang="en-US" sz="1520" dirty="0"/>
          </a:p>
          <a:p>
            <a:pPr marL="177800" indent="-177800">
              <a:buSzPct val="100000"/>
              <a:buChar char="•"/>
            </a:pPr>
            <a:r>
              <a:rPr lang="en-US" sz="1520" dirty="0">
                <a:solidFill>
                  <a:srgbClr val="1E2226"/>
                </a:solidFill>
              </a:rPr>
              <a:t>Two runtime modes: online serving and offline reprocessing.</a:t>
            </a:r>
            <a:endParaRPr lang="en-US" sz="152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323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roadmap and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87552"/>
            <a:ext cx="11064240" cy="0"/>
          </a:xfrm>
          <a:prstGeom prst="line">
            <a:avLst/>
          </a:prstGeom>
          <a:noFill/>
          <a:ln w="12700">
            <a:solidFill>
              <a:srgbClr val="D4DC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89888"/>
            <a:ext cx="539496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3F"/>
                </a:solidFill>
              </a:rPr>
              <a:t>4-phase build 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1993392"/>
            <a:ext cx="4846320" cy="2834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1E2226"/>
                </a:solidFill>
              </a:rPr>
              <a:t>Phase 1: strong online RGB baseline with world-state query memory.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1E2226"/>
                </a:solidFill>
              </a:rPr>
              <a:t>Phase 2: add learned in-loop association and test AssA / IDF1 lift.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1E2226"/>
                </a:solidFill>
              </a:rPr>
              <a:t>Phase 3: add long-horizon global cleanup or graph smoothing.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1E2226"/>
                </a:solidFill>
              </a:rPr>
              <a:t>Phase 4: add thermal, depth, or calibration-light modules only if production evidence justifies them.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6355080" y="1389888"/>
            <a:ext cx="5166360" cy="4663440"/>
          </a:xfrm>
          <a:prstGeom prst="roundRect">
            <a:avLst>
              <a:gd name="adj" fmla="val 980"/>
            </a:avLst>
          </a:prstGeom>
          <a:solidFill>
            <a:srgbClr val="FFFFFF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323F"/>
                </a:solidFill>
              </a:rPr>
              <a:t>Metrics that matter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1993392"/>
            <a:ext cx="4572000" cy="2468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1E2226"/>
                </a:solidFill>
              </a:rPr>
              <a:t>HOTA, IDF1, AssA, MOTA: standard view of quality.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1E2226"/>
                </a:solidFill>
              </a:rPr>
              <a:t>AvgTrackDur (or equivalent): continuity of identity over time.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1E2226"/>
                </a:solidFill>
              </a:rPr>
              <a:t>Latency / FPS at target camera count, not only single-scene speed.</a:t>
            </a:r>
            <a:endParaRPr lang="en-US" sz="1620" dirty="0"/>
          </a:p>
          <a:p>
            <a:pPr marL="177800" indent="-177800">
              <a:buSzPct val="100000"/>
              <a:buChar char="•"/>
            </a:pPr>
            <a:r>
              <a:rPr lang="en-US" sz="1620" dirty="0">
                <a:solidFill>
                  <a:srgbClr val="1E2226"/>
                </a:solidFill>
              </a:rPr>
              <a:t>Failure buckets: low light, occlusion, camera handoff, calibration drift.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6601968" y="4800600"/>
            <a:ext cx="4480560" cy="777240"/>
          </a:xfrm>
          <a:prstGeom prst="roundRect">
            <a:avLst>
              <a:gd name="adj" fmla="val 4706"/>
            </a:avLst>
          </a:prstGeom>
          <a:solidFill>
            <a:srgbClr val="EAF4F1"/>
          </a:solidFill>
          <a:ln w="12700">
            <a:solidFill>
              <a:srgbClr val="D0E4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5056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226"/>
                </a:solidFill>
              </a:rPr>
              <a:t>Target outcome: best online quality under realistic sensor assumptions.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48089"/>
                </a:solidFill>
              </a:rPr>
              <a:t>MTMC survey · Mar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Latest MTMC models and papers</dc:title>
  <dc:subject>Latest MTMC models and recommendations</dc:subject>
  <dc:creator>OpenAI</dc:creator>
  <cp:lastModifiedBy>OpenAI</cp:lastModifiedBy>
  <cp:revision>1</cp:revision>
  <dcterms:created xsi:type="dcterms:W3CDTF">2026-03-12T07:53:04Z</dcterms:created>
  <dcterms:modified xsi:type="dcterms:W3CDTF">2026-03-12T07:53:04Z</dcterms:modified>
</cp:coreProperties>
</file>